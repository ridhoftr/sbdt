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Poppins" panose="00000500000000000000" pitchFamily="2" charset="0"/>
      <p:regular r:id="rId15"/>
      <p:bold r:id="rId16"/>
      <p:italic r:id="rId17"/>
      <p:boldItalic r:id="rId18"/>
    </p:embeddedFont>
    <p:embeddedFont>
      <p:font typeface="Poppins ExtraBold" panose="00000900000000000000" pitchFamily="2" charset="0"/>
      <p:bold r:id="rId19"/>
      <p:boldItalic r:id="rId20"/>
    </p:embeddedFont>
    <p:embeddedFont>
      <p:font typeface="Poppins Light" panose="00000400000000000000" pitchFamily="2" charset="0"/>
      <p:regular r:id="rId21"/>
      <p:bold r:id="rId22"/>
      <p:italic r:id="rId23"/>
      <p:boldItalic r:id="rId24"/>
    </p:embeddedFont>
    <p:embeddedFont>
      <p:font typeface="Poppins Medium" panose="00000600000000000000" pitchFamily="2" charset="0"/>
      <p:regular r:id="rId25"/>
      <p:bold r:id="rId26"/>
      <p:italic r:id="rId27"/>
      <p:boldItalic r:id="rId28"/>
    </p:embeddedFont>
    <p:embeddedFont>
      <p:font typeface="Poppins SemiBold" panose="000007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23B2C2-2879-4244-AD20-43C3777351B9}">
  <a:tblStyle styleId="{BC23B2C2-2879-4244-AD20-43C3777351B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5" Type="http://schemas.openxmlformats.org/officeDocument/2006/relationships/image" Target="../media/image5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18" Type="http://schemas.openxmlformats.org/officeDocument/2006/relationships/image" Target="../media/image8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17" Type="http://schemas.openxmlformats.org/officeDocument/2006/relationships/image" Target="../media/image80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5" Type="http://schemas.openxmlformats.org/officeDocument/2006/relationships/image" Target="../media/image78.png"/><Relationship Id="rId10" Type="http://schemas.openxmlformats.org/officeDocument/2006/relationships/image" Target="../media/image73.png"/><Relationship Id="rId19" Type="http://schemas.openxmlformats.org/officeDocument/2006/relationships/image" Target="../media/image82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4C8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581025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771525" y="1390650"/>
            <a:ext cx="11181397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IMPLEMENTASI DATABASE TERDISTRIBUSI PADA SISTEM INFORMASI LAUNDRY MULTI CABANG BERBASIS WEB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771525" y="2486025"/>
            <a:ext cx="106489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7F3D0"/>
                </a:solidFill>
                <a:latin typeface="Poppins Light"/>
                <a:ea typeface="Poppins Light"/>
                <a:cs typeface="Poppins Light"/>
                <a:sym typeface="Poppins Light"/>
              </a:rPr>
              <a:t>Rancangan Arsitektur Basis Data Terdistribusi Menggunakan Metode Sinkronisasi dan Fragmentasi Horizontal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71525" y="3499248"/>
            <a:ext cx="649554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Muhammad Ridho </a:t>
            </a:r>
            <a:r>
              <a:rPr lang="en-US" sz="2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Faturahman</a:t>
            </a:r>
            <a:r>
              <a:rPr lang="en-US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– 20230801456</a:t>
            </a:r>
            <a:endParaRPr sz="2000"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1343025" y="695325"/>
            <a:ext cx="18478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2E8F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PROYEK AKHIR AKADEMIS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947987"/>
            <a:ext cx="5133975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661987"/>
            <a:ext cx="319087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7329487" y="3148012"/>
            <a:ext cx="30480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F4C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KOMPARASI STRUKTUR ARSITEKTUR DATA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104900" y="2328862"/>
            <a:ext cx="4800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4C81"/>
                </a:solidFill>
                <a:latin typeface="Poppins"/>
                <a:ea typeface="Poppins"/>
                <a:cs typeface="Poppins"/>
                <a:sym typeface="Poppins"/>
              </a:rPr>
              <a:t>Ekspansi Bisnis Multi Cabang: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Industri laundry modern menuntut integrasi operasional real-time di berbagai area geografis berbeda.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104900" y="3148012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4C81"/>
                </a:solidFill>
                <a:latin typeface="Poppins"/>
                <a:ea typeface="Poppins"/>
                <a:cs typeface="Poppins"/>
                <a:sym typeface="Poppins"/>
              </a:rPr>
              <a:t>Kelemahan Basis Data Terpusat: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Memiliki resiko besar </a:t>
            </a:r>
            <a:r>
              <a:rPr lang="en-US" sz="1200" b="0" i="1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Single Point of Failure (SPOF)</a:t>
            </a:r>
            <a:r>
              <a:rPr lang="en-US" sz="1200" b="0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dan tingginya latensi akses data dari cabang terpencil.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104900" y="3940687"/>
            <a:ext cx="4800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0F4C81"/>
                </a:solidFill>
                <a:latin typeface="Poppins"/>
                <a:ea typeface="Poppins"/>
                <a:cs typeface="Poppins"/>
                <a:sym typeface="Poppins"/>
              </a:rPr>
              <a:t>Pentingnya</a:t>
            </a:r>
            <a:r>
              <a:rPr lang="en-US" sz="1200" b="1" i="0" u="none" strike="noStrike" cap="none" dirty="0">
                <a:solidFill>
                  <a:srgbClr val="0F4C8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1" i="0" u="none" strike="noStrike" cap="none" dirty="0" err="1">
                <a:solidFill>
                  <a:srgbClr val="0F4C81"/>
                </a:solidFill>
                <a:latin typeface="Poppins"/>
                <a:ea typeface="Poppins"/>
                <a:cs typeface="Poppins"/>
                <a:sym typeface="Poppins"/>
              </a:rPr>
              <a:t>Desentralisasi</a:t>
            </a:r>
            <a:r>
              <a:rPr lang="en-US" sz="1200" b="1" i="0" u="none" strike="noStrike" cap="none" dirty="0">
                <a:solidFill>
                  <a:srgbClr val="0F4C8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Otonomi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data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lokal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diperlukan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agar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kasir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cabang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tetap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lancar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bertransaksi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meski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internet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pusat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terputus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dirty="0"/>
          </a:p>
        </p:txBody>
      </p:sp>
      <p:sp>
        <p:nvSpPr>
          <p:cNvPr id="106" name="Google Shape;106;p14"/>
          <p:cNvSpPr txBox="1"/>
          <p:nvPr/>
        </p:nvSpPr>
        <p:spPr>
          <a:xfrm>
            <a:off x="1104900" y="4759837"/>
            <a:ext cx="4800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4C81"/>
                </a:solidFill>
                <a:latin typeface="Poppins"/>
                <a:ea typeface="Poppins"/>
                <a:cs typeface="Poppins"/>
                <a:sym typeface="Poppins"/>
              </a:rPr>
              <a:t>Studi Kasus CleanWash: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Kebutuhan koordinasi data transaksi harian antara Cabang Makassar, Cabang Gowa, dan Kantor Pusat.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584156" y="4395787"/>
            <a:ext cx="1988194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Ketergantungan Total</a:t>
            </a:r>
            <a:endParaRPr/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67613" y="3938587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9134326" y="4395787"/>
            <a:ext cx="1988194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Cabang Tetap Operasional</a:t>
            </a:r>
            <a:endParaRPr/>
          </a:p>
        </p:txBody>
      </p:sp>
      <p:pic>
        <p:nvPicPr>
          <p:cNvPr id="110" name="Google Shape;11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63879" y="367188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6746081" y="3986212"/>
            <a:ext cx="166434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DB Terpusat (Bottleneck)</a:t>
            </a:r>
            <a:endParaRPr/>
          </a:p>
        </p:txBody>
      </p:sp>
      <p:pic>
        <p:nvPicPr>
          <p:cNvPr id="112" name="Google Shape;11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20954" y="4424362"/>
            <a:ext cx="104775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985474" y="3671887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9296251" y="3986212"/>
            <a:ext cx="166434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F4C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DB Terdistribusi (Otonom)</a:t>
            </a:r>
            <a:endParaRPr/>
          </a:p>
        </p:txBody>
      </p:sp>
      <p:pic>
        <p:nvPicPr>
          <p:cNvPr id="115" name="Google Shape;115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323486" y="4424362"/>
            <a:ext cx="104775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/>
        </p:nvSpPr>
        <p:spPr>
          <a:xfrm>
            <a:off x="1233487" y="581025"/>
            <a:ext cx="4590573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4C81"/>
                </a:solidFill>
                <a:latin typeface="Poppins"/>
                <a:ea typeface="Poppins"/>
                <a:cs typeface="Poppins"/>
                <a:sym typeface="Poppins"/>
              </a:rPr>
              <a:t>LATAR BELAKANG MASALAH</a:t>
            </a:r>
            <a:endParaRPr/>
          </a:p>
        </p:txBody>
      </p:sp>
      <p:sp>
        <p:nvSpPr>
          <p:cNvPr id="117" name="Google Shape;117;p14"/>
          <p:cNvSpPr/>
          <p:nvPr/>
        </p:nvSpPr>
        <p:spPr>
          <a:xfrm>
            <a:off x="771525" y="1162050"/>
            <a:ext cx="4833937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2628900"/>
            <a:ext cx="5133975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590800"/>
            <a:ext cx="5133975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295650"/>
            <a:ext cx="5133975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4000500"/>
            <a:ext cx="5133975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4705350"/>
            <a:ext cx="5133975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661987"/>
            <a:ext cx="280987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1057275" y="3543300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>
                <a:solidFill>
                  <a:srgbClr val="0F4C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Metodologi Berbasis Teori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1057275" y="3914775"/>
            <a:ext cx="46005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Arsitektur sistem yang dibangun dirancang dengan merujuk pada standar literatur basis data terdistribusi tingkat universitas, memastikan keandalan fragmentasi horizontal dan protokol replikasi data harian.</a:t>
            </a:r>
            <a:endParaRPr/>
          </a:p>
        </p:txBody>
      </p:sp>
      <p:pic>
        <p:nvPicPr>
          <p:cNvPr id="130" name="Google Shape;13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7275" y="296227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6467475" y="2686050"/>
            <a:ext cx="2000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4C81"/>
                </a:solidFill>
                <a:latin typeface="Poppins"/>
                <a:ea typeface="Poppins"/>
                <a:cs typeface="Poppins"/>
                <a:sym typeface="Poppins"/>
              </a:rPr>
              <a:t>[1]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810375" y="2686050"/>
            <a:ext cx="44672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M. T. Özsu and P. Valduriez, </a:t>
            </a:r>
            <a:r>
              <a:rPr lang="en-US" sz="975" b="0" i="1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Principles of Distributed Database Systems</a:t>
            </a:r>
            <a:r>
              <a:rPr lang="en-US" sz="975" b="0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, 4th ed., Springer, 2020.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467475" y="3390900"/>
            <a:ext cx="2286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4C81"/>
                </a:solidFill>
                <a:latin typeface="Poppins"/>
                <a:ea typeface="Poppins"/>
                <a:cs typeface="Poppins"/>
                <a:sym typeface="Poppins"/>
              </a:rPr>
              <a:t>[2]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6838950" y="3390900"/>
            <a:ext cx="44386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A. Silberschatz, H. F. Korth, and S. Sudarshan, </a:t>
            </a:r>
            <a:r>
              <a:rPr lang="en-US" sz="975" b="0" i="1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Database System Concepts</a:t>
            </a:r>
            <a:r>
              <a:rPr lang="en-US" sz="975" b="0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, 7th ed., McGraw-Hill, 2019.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6467475" y="4095750"/>
            <a:ext cx="2381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4C81"/>
                </a:solidFill>
                <a:latin typeface="Poppins"/>
                <a:ea typeface="Poppins"/>
                <a:cs typeface="Poppins"/>
                <a:sym typeface="Poppins"/>
              </a:rPr>
              <a:t>[3]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6848475" y="4095750"/>
            <a:ext cx="44291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R. Elmasri and S. B. Navathe, </a:t>
            </a:r>
            <a:r>
              <a:rPr lang="en-US" sz="975" b="0" i="1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Fundamentals of Database Systems</a:t>
            </a:r>
            <a:r>
              <a:rPr lang="en-US" sz="975" b="0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, 7th ed., Pearson, 2017.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6467475" y="4800600"/>
            <a:ext cx="2476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4C81"/>
                </a:solidFill>
                <a:latin typeface="Poppins"/>
                <a:ea typeface="Poppins"/>
                <a:cs typeface="Poppins"/>
                <a:sym typeface="Poppins"/>
              </a:rPr>
              <a:t>[4]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6858000" y="4800600"/>
            <a:ext cx="341947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Oracle Corporation, </a:t>
            </a:r>
            <a:r>
              <a:rPr lang="en-US" sz="975" b="0" i="1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MySQL 8.0 Reference Manual</a:t>
            </a:r>
            <a:r>
              <a:rPr lang="en-US" sz="975" b="0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, 2024.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1195387" y="581025"/>
            <a:ext cx="594074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4C81"/>
                </a:solidFill>
                <a:latin typeface="Poppins"/>
                <a:ea typeface="Poppins"/>
                <a:cs typeface="Poppins"/>
                <a:sym typeface="Poppins"/>
              </a:rPr>
              <a:t>REFERENSI AKADEMIS (IEEE FORMAT)</a:t>
            </a:r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771525" y="1162050"/>
            <a:ext cx="6081712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3207543"/>
            <a:ext cx="3397150" cy="2043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97275" y="3207543"/>
            <a:ext cx="3397299" cy="2043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23175" y="3207543"/>
            <a:ext cx="3397150" cy="2043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661987"/>
            <a:ext cx="404812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1809750" y="2455068"/>
            <a:ext cx="8572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CleanWash Laundry merupakan jaringan bisnis laundry modern yang mengelola otonomi data cabang secara desentralisasi.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946628" y="4093368"/>
            <a:ext cx="304694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4C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Kantor Pusat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1019175" y="4445793"/>
            <a:ext cx="2901850" cy="55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Fokus pada konsolidasi data, dashboard analitik eksekutif harian, monitoring omzet, dan laporan terpadu.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4572375" y="4093368"/>
            <a:ext cx="304709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Cabang Makassar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4644925" y="4445793"/>
            <a:ext cx="2901999" cy="55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Melayani transaksi kasir lokal, input cucian, manajemen member Makassar, dan pembayaran kasir harian.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8198279" y="4093368"/>
            <a:ext cx="304694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Cabang Gowa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8270825" y="4445793"/>
            <a:ext cx="2901850" cy="55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Menjalankan manajemen database mandiri lokal untuk memproses alur kerja cuci-kering tanpa interupsi eksternal.</a:t>
            </a:r>
            <a:endParaRPr/>
          </a:p>
        </p:txBody>
      </p:sp>
      <p:pic>
        <p:nvPicPr>
          <p:cNvPr id="156" name="Google Shape;15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355800" y="3559968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24401" y="3559968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50300" y="3559968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 txBox="1"/>
          <p:nvPr/>
        </p:nvSpPr>
        <p:spPr>
          <a:xfrm>
            <a:off x="1319212" y="581025"/>
            <a:ext cx="6000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4C81"/>
                </a:solidFill>
                <a:latin typeface="Poppins"/>
                <a:ea typeface="Poppins"/>
                <a:cs typeface="Poppins"/>
                <a:sym typeface="Poppins"/>
              </a:rPr>
              <a:t>STUDI KASUS: CLEANWASH LAUNDRY</a:t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771525" y="1162050"/>
            <a:ext cx="6262687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2938462"/>
            <a:ext cx="2519362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81387" y="2938462"/>
            <a:ext cx="2519362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1250" y="2938462"/>
            <a:ext cx="2519362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01112" y="2938462"/>
            <a:ext cx="2519362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661987"/>
            <a:ext cx="319087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990600" y="3567112"/>
            <a:ext cx="22052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4C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Server Bottleneck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990600" y="3881437"/>
            <a:ext cx="210026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Tingginya antrean request data harian secara konkuren dari semua cabang memicu overload server pusat.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3700462" y="3567112"/>
            <a:ext cx="22052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4C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Ketergantungan Jaringan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3700462" y="3881437"/>
            <a:ext cx="210026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Gangguan koneksi internet di cabang langsung menyetop proses input nota masuk dan transaksi operasional kasir.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6410325" y="3567112"/>
            <a:ext cx="22052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4C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Tingginya Risiko Downtime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6410325" y="3881437"/>
            <a:ext cx="210026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Kegagalan pada server pusat berakibat lumpuhnya seluruh loket kasir di semua jaringan cabang secara global.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9120187" y="3567112"/>
            <a:ext cx="22052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4C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Latensi Lambat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9120187" y="3881437"/>
            <a:ext cx="210026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Pencarian data pelanggan membutuhkan waktu lama akibat pengiriman query melintasi jaringan internet regional.</a:t>
            </a:r>
            <a:endParaRPr/>
          </a:p>
        </p:txBody>
      </p:sp>
      <p:pic>
        <p:nvPicPr>
          <p:cNvPr id="178" name="Google Shape;17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0600" y="318611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700462" y="318611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10325" y="318611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120187" y="318611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 txBox="1"/>
          <p:nvPr/>
        </p:nvSpPr>
        <p:spPr>
          <a:xfrm>
            <a:off x="1233487" y="581025"/>
            <a:ext cx="4255531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4C81"/>
                </a:solidFill>
                <a:latin typeface="Poppins"/>
                <a:ea typeface="Poppins"/>
                <a:cs typeface="Poppins"/>
                <a:sym typeface="Poppins"/>
              </a:rPr>
              <a:t>ANALISIS PERMASALAHAN</a:t>
            </a:r>
            <a:endParaRPr/>
          </a:p>
        </p:txBody>
      </p:sp>
      <p:sp>
        <p:nvSpPr>
          <p:cNvPr id="183" name="Google Shape;183;p17"/>
          <p:cNvSpPr/>
          <p:nvPr/>
        </p:nvSpPr>
        <p:spPr>
          <a:xfrm>
            <a:off x="771525" y="1162050"/>
            <a:ext cx="451485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4C81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05737" y="2486025"/>
            <a:ext cx="2095500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4162425"/>
            <a:ext cx="20955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324975" y="4162425"/>
            <a:ext cx="20955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661987"/>
            <a:ext cx="280987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8"/>
          <p:cNvSpPr txBox="1"/>
          <p:nvPr/>
        </p:nvSpPr>
        <p:spPr>
          <a:xfrm>
            <a:off x="771525" y="2918519"/>
            <a:ext cx="539067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A7F3D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 Otonomi Lokal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771525" y="3375719"/>
            <a:ext cx="5133975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Setiap unit cabang dipersenjatai dengan database lokal mandiri agar seluruh sistem transaksi tetap berjalan 100% lancar secara luring (*offline-ready*). Replikasi dan penyelarasan data didorong ke server pusat secara terjadwal.</a:t>
            </a:r>
            <a:endParaRPr/>
          </a:p>
        </p:txBody>
      </p:sp>
      <p:pic>
        <p:nvPicPr>
          <p:cNvPr id="194" name="Google Shape;19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29662" y="2647950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8"/>
          <p:cNvSpPr txBox="1"/>
          <p:nvPr/>
        </p:nvSpPr>
        <p:spPr>
          <a:xfrm>
            <a:off x="8015287" y="2971800"/>
            <a:ext cx="1676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KANTOR PUSAT</a:t>
            </a:r>
            <a:endParaRPr/>
          </a:p>
        </p:txBody>
      </p:sp>
      <p:pic>
        <p:nvPicPr>
          <p:cNvPr id="196" name="Google Shape;196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68456" y="3248025"/>
            <a:ext cx="969912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8"/>
          <p:cNvSpPr/>
          <p:nvPr/>
        </p:nvSpPr>
        <p:spPr>
          <a:xfrm>
            <a:off x="8843962" y="3590925"/>
            <a:ext cx="19050" cy="238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7615237" y="3829050"/>
            <a:ext cx="2476500" cy="190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7615237" y="3829050"/>
            <a:ext cx="19050" cy="3333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10072687" y="3829050"/>
            <a:ext cx="19050" cy="3333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1525" y="4575249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8"/>
          <p:cNvSpPr txBox="1"/>
          <p:nvPr/>
        </p:nvSpPr>
        <p:spPr>
          <a:xfrm>
            <a:off x="1219200" y="4475236"/>
            <a:ext cx="23050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Replikasi &amp; Fragmentasi Sejajar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1219200" y="4684786"/>
            <a:ext cx="4686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Mengeliminasi risiko bottleneck dan memisahkan alur transaksi logis antar cabang.</a:t>
            </a:r>
            <a:endParaRPr/>
          </a:p>
        </p:txBody>
      </p:sp>
      <p:pic>
        <p:nvPicPr>
          <p:cNvPr id="204" name="Google Shape;204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243762" y="4314825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8"/>
          <p:cNvSpPr txBox="1"/>
          <p:nvPr/>
        </p:nvSpPr>
        <p:spPr>
          <a:xfrm>
            <a:off x="6486525" y="4610100"/>
            <a:ext cx="1695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CABANG MAKASSAR</a:t>
            </a:r>
            <a:endParaRPr/>
          </a:p>
        </p:txBody>
      </p:sp>
      <p:pic>
        <p:nvPicPr>
          <p:cNvPr id="206" name="Google Shape;206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755010" y="4886325"/>
            <a:ext cx="1158478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282237" y="4314825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8"/>
          <p:cNvSpPr txBox="1"/>
          <p:nvPr/>
        </p:nvSpPr>
        <p:spPr>
          <a:xfrm>
            <a:off x="9525000" y="4610100"/>
            <a:ext cx="1695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CABANG GOWA</a:t>
            </a:r>
            <a:endParaRPr/>
          </a:p>
        </p:txBody>
      </p:sp>
      <p:pic>
        <p:nvPicPr>
          <p:cNvPr id="209" name="Google Shape;209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919245" y="4886325"/>
            <a:ext cx="906958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8"/>
          <p:cNvSpPr txBox="1"/>
          <p:nvPr/>
        </p:nvSpPr>
        <p:spPr>
          <a:xfrm>
            <a:off x="1195387" y="581025"/>
            <a:ext cx="7475934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SOLUSI: ARSITEKTUR TOPOLOGI TERDISTRIBUSI</a:t>
            </a:r>
            <a:endParaRPr/>
          </a:p>
        </p:txBody>
      </p:sp>
      <p:sp>
        <p:nvSpPr>
          <p:cNvPr id="211" name="Google Shape;211;p18"/>
          <p:cNvSpPr/>
          <p:nvPr/>
        </p:nvSpPr>
        <p:spPr>
          <a:xfrm>
            <a:off x="771525" y="1162050"/>
            <a:ext cx="754380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2752725"/>
            <a:ext cx="3397150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97275" y="2752725"/>
            <a:ext cx="3397299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23175" y="2752725"/>
            <a:ext cx="3397150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661987"/>
            <a:ext cx="357187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19175" y="3038475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9"/>
          <p:cNvSpPr txBox="1"/>
          <p:nvPr/>
        </p:nvSpPr>
        <p:spPr>
          <a:xfrm>
            <a:off x="1019175" y="3609975"/>
            <a:ext cx="304694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4C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Horizontal Fragmentation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1019175" y="3962400"/>
            <a:ext cx="290185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Membagi record baris data transaksi berdasarkan lokasi fisik wilayah cabang. Memastikan database Makassar hanya memproses dan menyimpan data Makassar.</a:t>
            </a:r>
            <a:endParaRPr/>
          </a:p>
        </p:txBody>
      </p:sp>
      <p:pic>
        <p:nvPicPr>
          <p:cNvPr id="223" name="Google Shape;223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4925" y="3038475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9"/>
          <p:cNvSpPr txBox="1"/>
          <p:nvPr/>
        </p:nvSpPr>
        <p:spPr>
          <a:xfrm>
            <a:off x="4644925" y="3609975"/>
            <a:ext cx="304709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4C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 Replication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4644925" y="3962400"/>
            <a:ext cx="2901999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Tabel master statis seperti daftar jenis paket layanan laundry dan hak akses pegawai direplikasi penuh di seluruh instance lokal untuk kueri instan tanpa jaringan.</a:t>
            </a:r>
            <a:endParaRPr/>
          </a:p>
        </p:txBody>
      </p:sp>
      <p:pic>
        <p:nvPicPr>
          <p:cNvPr id="226" name="Google Shape;226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70825" y="3038475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9"/>
          <p:cNvSpPr txBox="1"/>
          <p:nvPr/>
        </p:nvSpPr>
        <p:spPr>
          <a:xfrm>
            <a:off x="8270825" y="3609975"/>
            <a:ext cx="304694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 Synchronization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8270825" y="3962400"/>
            <a:ext cx="290185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Penyelarasan asinkron otomatis yang dipicu berkala guna mengirimkan rekonsiliasi data cabang menuju server pusat untuk keperluan pembukuan analitis.</a:t>
            </a:r>
            <a:endParaRPr/>
          </a:p>
        </p:txBody>
      </p:sp>
      <p:pic>
        <p:nvPicPr>
          <p:cNvPr id="229" name="Google Shape;229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38237" y="315753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763988" y="315753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389887" y="315753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9"/>
          <p:cNvSpPr txBox="1"/>
          <p:nvPr/>
        </p:nvSpPr>
        <p:spPr>
          <a:xfrm>
            <a:off x="1271587" y="581025"/>
            <a:ext cx="5555694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4C81"/>
                </a:solidFill>
                <a:latin typeface="Poppins"/>
                <a:ea typeface="Poppins"/>
                <a:cs typeface="Poppins"/>
                <a:sym typeface="Poppins"/>
              </a:rPr>
              <a:t>KONSEP DATABASE TERDISTRIBUSI</a:t>
            </a:r>
            <a:endParaRPr/>
          </a:p>
        </p:txBody>
      </p:sp>
      <p:sp>
        <p:nvSpPr>
          <p:cNvPr id="233" name="Google Shape;233;p19"/>
          <p:cNvSpPr/>
          <p:nvPr/>
        </p:nvSpPr>
        <p:spPr>
          <a:xfrm>
            <a:off x="771525" y="1162050"/>
            <a:ext cx="579120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661987"/>
            <a:ext cx="404812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0"/>
          <p:cNvSpPr txBox="1"/>
          <p:nvPr/>
        </p:nvSpPr>
        <p:spPr>
          <a:xfrm>
            <a:off x="771525" y="3017043"/>
            <a:ext cx="10648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Langkah bertahap pemrosesan transaksi dari kasir cabang hingga masuk dashboard monitor utama.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1051024" y="4360068"/>
            <a:ext cx="10382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F4C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Web Interface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1241524" y="4545806"/>
            <a:ext cx="6572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94A3B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Akses Sistem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2899469" y="4360068"/>
            <a:ext cx="9620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F4C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Admin Login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2856607" y="4545806"/>
            <a:ext cx="10477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94A3B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Autentikasi Cabang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4790777" y="4360068"/>
            <a:ext cx="80010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F4C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Transaksi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4771727" y="4545806"/>
            <a:ext cx="8382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94A3B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Input Data Kasir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6648747" y="4360068"/>
            <a:ext cx="70485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F4C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DB Lokal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6586835" y="4545806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94A3B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Simpan Mandiri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8330505" y="4360068"/>
            <a:ext cx="9620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5. Sinkronisasi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8378130" y="4545806"/>
            <a:ext cx="8667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94A3B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Pengiriman Auto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10259913" y="4360068"/>
            <a:ext cx="72390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F4C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6. DB Pusat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10126563" y="4545806"/>
            <a:ext cx="9906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94A3B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Analitik Dashboard</a:t>
            </a:r>
            <a:endParaRPr/>
          </a:p>
        </p:txBody>
      </p:sp>
      <p:sp>
        <p:nvSpPr>
          <p:cNvPr id="264" name="Google Shape;264;p20"/>
          <p:cNvSpPr/>
          <p:nvPr/>
        </p:nvSpPr>
        <p:spPr>
          <a:xfrm>
            <a:off x="1304020" y="3945804"/>
            <a:ext cx="9583959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0"/>
          <p:cNvSpPr txBox="1"/>
          <p:nvPr/>
        </p:nvSpPr>
        <p:spPr>
          <a:xfrm>
            <a:off x="1319212" y="581025"/>
            <a:ext cx="4490561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4C81"/>
                </a:solidFill>
                <a:latin typeface="Poppins"/>
                <a:ea typeface="Poppins"/>
                <a:cs typeface="Poppins"/>
                <a:sym typeface="Poppins"/>
              </a:rPr>
              <a:t>ALIRAN ARSITEKTUR SISTEM</a:t>
            </a:r>
            <a:endParaRPr/>
          </a:p>
        </p:txBody>
      </p:sp>
      <p:sp>
        <p:nvSpPr>
          <p:cNvPr id="266" name="Google Shape;266;p20"/>
          <p:cNvSpPr/>
          <p:nvPr/>
        </p:nvSpPr>
        <p:spPr>
          <a:xfrm>
            <a:off x="771525" y="1162050"/>
            <a:ext cx="4824412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" name="Google Shape;24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4386" y="3674268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94732" y="3674268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05077" y="3674268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15422" y="3674268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25767" y="3674268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336113" y="3674268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451074" y="3864768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261419" y="3864768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81289" y="3864768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0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915447" y="3864768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0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716267" y="3864768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0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526613" y="3864768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661987"/>
            <a:ext cx="319087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1"/>
          <p:cNvSpPr/>
          <p:nvPr/>
        </p:nvSpPr>
        <p:spPr>
          <a:xfrm>
            <a:off x="771525" y="2502693"/>
            <a:ext cx="10648950" cy="304323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3" name="Google Shape;273;p21"/>
          <p:cNvGraphicFramePr/>
          <p:nvPr/>
        </p:nvGraphicFramePr>
        <p:xfrm>
          <a:off x="771525" y="2502693"/>
          <a:ext cx="10648950" cy="3043250"/>
        </p:xfrm>
        <a:graphic>
          <a:graphicData uri="http://schemas.openxmlformats.org/drawingml/2006/table">
            <a:tbl>
              <a:tblPr firstRow="1" bandRow="1">
                <a:noFill/>
                <a:tableStyleId>{BC23B2C2-2879-4244-AD20-43C3777351B9}</a:tableStyleId>
              </a:tblPr>
              <a:tblGrid>
                <a:gridCol w="184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8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Nama Database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Lokasi Server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Tabel-Tabel Utama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Strategi Distribusi Data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laundry_pusat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Server Cloud Utama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users, layanan, transaksi_gabungan, laporan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Penyimpanan tersentralisasi hasil auto-sync seluruh jaringan cabang.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laundry_makassar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Infrastruktur Lokal Cabang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users_lokal, transaksi_makassar, pelanggan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Fragmentasi Horizontal (hanya memuat rekaman data regional Makassar).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laundry_gowa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Infrastruktur Lokal Cabang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users_lokal, transaksi_gowa, pelanggan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Fragmentasi Horizontal (hanya memuat rekaman data regional Gowa).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1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Data Replikasi (Global)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Seluruh Node Server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layanan, paket_harga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Replikasi Penuh (sinkronisasi berkala dari Cloud Pusat ke Cabang).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4" name="Google Shape;274;p21"/>
          <p:cNvSpPr txBox="1"/>
          <p:nvPr/>
        </p:nvSpPr>
        <p:spPr>
          <a:xfrm>
            <a:off x="771525" y="2159793"/>
            <a:ext cx="106489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Rencana pemisahan fisik skema tabel guna memelihara performa tinggi di tiap unit komersial CleanWash.</a:t>
            </a:r>
            <a:endParaRPr/>
          </a:p>
        </p:txBody>
      </p:sp>
      <p:sp>
        <p:nvSpPr>
          <p:cNvPr id="275" name="Google Shape;275;p21"/>
          <p:cNvSpPr/>
          <p:nvPr/>
        </p:nvSpPr>
        <p:spPr>
          <a:xfrm>
            <a:off x="771525" y="3626643"/>
            <a:ext cx="18410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2612528" y="3626643"/>
            <a:ext cx="18180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4430613" y="3626643"/>
            <a:ext cx="29790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7409705" y="3626643"/>
            <a:ext cx="40107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1"/>
          <p:cNvSpPr/>
          <p:nvPr/>
        </p:nvSpPr>
        <p:spPr>
          <a:xfrm>
            <a:off x="771525" y="4264818"/>
            <a:ext cx="18410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2612528" y="4264818"/>
            <a:ext cx="18180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4430613" y="4264818"/>
            <a:ext cx="29790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7409705" y="4264818"/>
            <a:ext cx="40107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771525" y="4902993"/>
            <a:ext cx="18410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2612528" y="4902993"/>
            <a:ext cx="18180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4430613" y="4902993"/>
            <a:ext cx="29790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7409705" y="4902993"/>
            <a:ext cx="40107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1233487" y="581025"/>
            <a:ext cx="6270783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4C81"/>
                </a:solidFill>
                <a:latin typeface="Poppins"/>
                <a:ea typeface="Poppins"/>
                <a:cs typeface="Poppins"/>
                <a:sym typeface="Poppins"/>
              </a:rPr>
              <a:t>STRATEGI DISTRIBUSI TABEL DATABASE</a:t>
            </a:r>
            <a:endParaRPr/>
          </a:p>
        </p:txBody>
      </p:sp>
      <p:sp>
        <p:nvSpPr>
          <p:cNvPr id="288" name="Google Shape;288;p21"/>
          <p:cNvSpPr/>
          <p:nvPr/>
        </p:nvSpPr>
        <p:spPr>
          <a:xfrm>
            <a:off x="771525" y="1162050"/>
            <a:ext cx="6434137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4C81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2300287"/>
            <a:ext cx="5133975" cy="310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300287"/>
            <a:ext cx="5133975" cy="310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661987"/>
            <a:ext cx="319087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2"/>
          <p:cNvSpPr txBox="1"/>
          <p:nvPr/>
        </p:nvSpPr>
        <p:spPr>
          <a:xfrm>
            <a:off x="1419225" y="2571750"/>
            <a:ext cx="195024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Sisi Admin Cabang</a:t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1352550" y="3024187"/>
            <a:ext cx="43053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Kasir &amp; Transaksi:</a:t>
            </a:r>
            <a:r>
              <a:rPr lang="en-US" sz="1050" b="0" i="0" u="none" strike="noStrike" cap="non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 Input cucian masuk, timbangan berat, dan cetak struk lokal.</a:t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1352550" y="3557587"/>
            <a:ext cx="43053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Pelanggan:</a:t>
            </a:r>
            <a:r>
              <a:rPr lang="en-US" sz="1050" b="0" i="0" u="none" strike="noStrike" cap="non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 Pendaftaran akun keanggotaan/member di lingkup regional.</a:t>
            </a:r>
            <a:endParaRPr/>
          </a:p>
        </p:txBody>
      </p:sp>
      <p:sp>
        <p:nvSpPr>
          <p:cNvPr id="299" name="Google Shape;299;p22"/>
          <p:cNvSpPr txBox="1"/>
          <p:nvPr/>
        </p:nvSpPr>
        <p:spPr>
          <a:xfrm>
            <a:off x="1352550" y="4090987"/>
            <a:ext cx="43053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Layanan &amp; Progress:</a:t>
            </a:r>
            <a:r>
              <a:rPr lang="en-US" sz="1050" b="0" i="0" u="none" strike="noStrike" cap="non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 Update tahapan kerja (antre, cuci, setrika, siap).</a:t>
            </a:r>
            <a:endParaRPr/>
          </a:p>
        </p:txBody>
      </p:sp>
      <p:sp>
        <p:nvSpPr>
          <p:cNvPr id="300" name="Google Shape;300;p22"/>
          <p:cNvSpPr txBox="1"/>
          <p:nvPr/>
        </p:nvSpPr>
        <p:spPr>
          <a:xfrm>
            <a:off x="1352550" y="4624387"/>
            <a:ext cx="43053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Trigger Manual Sync:</a:t>
            </a:r>
            <a:r>
              <a:rPr lang="en-US" sz="1050" b="0" i="0" u="none" strike="noStrike" cap="non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 Tombol sinkronisasi paksa jika kondisi data dinilai kritis.</a:t>
            </a:r>
            <a:endParaRPr/>
          </a:p>
        </p:txBody>
      </p:sp>
      <p:sp>
        <p:nvSpPr>
          <p:cNvPr id="301" name="Google Shape;301;p22"/>
          <p:cNvSpPr txBox="1"/>
          <p:nvPr/>
        </p:nvSpPr>
        <p:spPr>
          <a:xfrm>
            <a:off x="6905625" y="2571750"/>
            <a:ext cx="1690211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Sisi Admin Pusat</a:t>
            </a:r>
            <a:endParaRPr/>
          </a:p>
        </p:txBody>
      </p:sp>
      <p:sp>
        <p:nvSpPr>
          <p:cNvPr id="302" name="Google Shape;302;p22"/>
          <p:cNvSpPr txBox="1"/>
          <p:nvPr/>
        </p:nvSpPr>
        <p:spPr>
          <a:xfrm>
            <a:off x="6867525" y="3024187"/>
            <a:ext cx="43053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Dashboard Monitor:</a:t>
            </a:r>
            <a:r>
              <a:rPr lang="en-US" sz="1050" b="0" i="0" u="none" strike="noStrike" cap="non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 Tampilan visual interaktif performa harian seluruh cabang.</a:t>
            </a:r>
            <a:endParaRPr/>
          </a:p>
        </p:txBody>
      </p:sp>
      <p:sp>
        <p:nvSpPr>
          <p:cNvPr id="303" name="Google Shape;303;p22"/>
          <p:cNvSpPr txBox="1"/>
          <p:nvPr/>
        </p:nvSpPr>
        <p:spPr>
          <a:xfrm>
            <a:off x="6867525" y="3557587"/>
            <a:ext cx="43053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Manajemen Cabang:</a:t>
            </a:r>
            <a:r>
              <a:rPr lang="en-US" sz="1050" b="0" i="0" u="none" strike="noStrike" cap="non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 Kontrol pendaftaran otorisasi login kasir baru.</a:t>
            </a:r>
            <a:endParaRPr/>
          </a:p>
        </p:txBody>
      </p:sp>
      <p:sp>
        <p:nvSpPr>
          <p:cNvPr id="304" name="Google Shape;304;p22"/>
          <p:cNvSpPr txBox="1"/>
          <p:nvPr/>
        </p:nvSpPr>
        <p:spPr>
          <a:xfrm>
            <a:off x="6867525" y="4090987"/>
            <a:ext cx="43053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Konsolidasi Laporan:</a:t>
            </a:r>
            <a:r>
              <a:rPr lang="en-US" sz="1050" b="0" i="0" u="none" strike="noStrike" cap="non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 Ekspor data laporan keuangan gabungan berkas PDF/Excel.</a:t>
            </a:r>
            <a:endParaRPr/>
          </a:p>
        </p:txBody>
      </p:sp>
      <p:sp>
        <p:nvSpPr>
          <p:cNvPr id="305" name="Google Shape;305;p22"/>
          <p:cNvSpPr txBox="1"/>
          <p:nvPr/>
        </p:nvSpPr>
        <p:spPr>
          <a:xfrm>
            <a:off x="6867525" y="4624387"/>
            <a:ext cx="43053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Master Tarif Layanan:</a:t>
            </a:r>
            <a:r>
              <a:rPr lang="en-US" sz="1050" b="0" i="0" u="none" strike="noStrike" cap="non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 Penyeragaman kontrol tarif dasar layanan global dari pusat.</a:t>
            </a:r>
            <a:endParaRPr/>
          </a:p>
        </p:txBody>
      </p:sp>
      <p:pic>
        <p:nvPicPr>
          <p:cNvPr id="306" name="Google Shape;30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9175" y="2595562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34150" y="259556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19175" y="305752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19175" y="359092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19175" y="412432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19175" y="465772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34150" y="305752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34150" y="359092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34150" y="412432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34150" y="4657725"/>
            <a:ext cx="857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2"/>
          <p:cNvSpPr txBox="1"/>
          <p:nvPr/>
        </p:nvSpPr>
        <p:spPr>
          <a:xfrm>
            <a:off x="1233487" y="581025"/>
            <a:ext cx="4210526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KOMPARASI FITUR SISTEM</a:t>
            </a:r>
            <a:endParaRPr/>
          </a:p>
        </p:txBody>
      </p:sp>
      <p:sp>
        <p:nvSpPr>
          <p:cNvPr id="317" name="Google Shape;317;p22"/>
          <p:cNvSpPr/>
          <p:nvPr/>
        </p:nvSpPr>
        <p:spPr>
          <a:xfrm>
            <a:off x="771525" y="1162050"/>
            <a:ext cx="4471987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390775"/>
            <a:ext cx="5133975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82110" y="3048000"/>
            <a:ext cx="3942754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82110" y="3771900"/>
            <a:ext cx="3942754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82110" y="4514850"/>
            <a:ext cx="3942754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661987"/>
            <a:ext cx="357187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3"/>
          <p:cNvSpPr txBox="1"/>
          <p:nvPr/>
        </p:nvSpPr>
        <p:spPr>
          <a:xfrm>
            <a:off x="771525" y="2813744"/>
            <a:ext cx="539067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4C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Stack Pengembangan</a:t>
            </a:r>
            <a:endParaRPr/>
          </a:p>
        </p:txBody>
      </p:sp>
      <p:sp>
        <p:nvSpPr>
          <p:cNvPr id="328" name="Google Shape;328;p23"/>
          <p:cNvSpPr txBox="1"/>
          <p:nvPr/>
        </p:nvSpPr>
        <p:spPr>
          <a:xfrm>
            <a:off x="771525" y="3242369"/>
            <a:ext cx="5133975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Arsitektur divalidasi memanfaatkan simulasi lingkungan multi-instance lokal dengan stack yang ringan dan mudah dioperasikan di laptop staf kasir cabang.</a:t>
            </a:r>
            <a:endParaRPr/>
          </a:p>
        </p:txBody>
      </p:sp>
      <p:sp>
        <p:nvSpPr>
          <p:cNvPr id="329" name="Google Shape;329;p23"/>
          <p:cNvSpPr txBox="1"/>
          <p:nvPr/>
        </p:nvSpPr>
        <p:spPr>
          <a:xfrm>
            <a:off x="6534150" y="2638425"/>
            <a:ext cx="46386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F4C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ALUR TRANSMISI DATA TRANSAKSI</a:t>
            </a:r>
            <a:endParaRPr/>
          </a:p>
        </p:txBody>
      </p:sp>
      <p:pic>
        <p:nvPicPr>
          <p:cNvPr id="330" name="Google Shape;330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1525" y="4072681"/>
            <a:ext cx="1743075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628900" y="4072681"/>
            <a:ext cx="1209675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952875" y="4072681"/>
            <a:ext cx="1381125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71525" y="4539406"/>
            <a:ext cx="1533525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419350" y="4539406"/>
            <a:ext cx="1571625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22324" y="4182219"/>
            <a:ext cx="1714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3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726265" y="4182219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3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050243" y="4182219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3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73128" y="4648944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3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2516721" y="4648944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3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810625" y="3533775"/>
            <a:ext cx="8572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3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810625" y="4276725"/>
            <a:ext cx="8572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3"/>
          <p:cNvSpPr txBox="1"/>
          <p:nvPr/>
        </p:nvSpPr>
        <p:spPr>
          <a:xfrm>
            <a:off x="1271587" y="581025"/>
            <a:ext cx="64058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4C81"/>
                </a:solidFill>
                <a:latin typeface="Poppins"/>
                <a:ea typeface="Poppins"/>
                <a:cs typeface="Poppins"/>
                <a:sym typeface="Poppins"/>
              </a:rPr>
              <a:t>ARSITEKTUR IMPLEMENTASI TEKNOLOGI</a:t>
            </a:r>
            <a:endParaRPr/>
          </a:p>
        </p:txBody>
      </p:sp>
      <p:sp>
        <p:nvSpPr>
          <p:cNvPr id="343" name="Google Shape;343;p23"/>
          <p:cNvSpPr/>
          <p:nvPr/>
        </p:nvSpPr>
        <p:spPr>
          <a:xfrm>
            <a:off x="771525" y="1162050"/>
            <a:ext cx="6600825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2686050"/>
            <a:ext cx="5133975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661987"/>
            <a:ext cx="319087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4"/>
          <p:cNvSpPr txBox="1"/>
          <p:nvPr/>
        </p:nvSpPr>
        <p:spPr>
          <a:xfrm>
            <a:off x="2154501" y="2927002"/>
            <a:ext cx="236802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>
                <a:solidFill>
                  <a:srgbClr val="10B98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100%</a:t>
            </a:r>
            <a:endParaRPr dirty="0"/>
          </a:p>
        </p:txBody>
      </p:sp>
      <p:sp>
        <p:nvSpPr>
          <p:cNvPr id="351" name="Google Shape;351;p24"/>
          <p:cNvSpPr txBox="1"/>
          <p:nvPr/>
        </p:nvSpPr>
        <p:spPr>
          <a:xfrm>
            <a:off x="2490787" y="3826587"/>
            <a:ext cx="1695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A7F3D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FAULT TOLERANCE</a:t>
            </a:r>
            <a:endParaRPr dirty="0"/>
          </a:p>
        </p:txBody>
      </p:sp>
      <p:sp>
        <p:nvSpPr>
          <p:cNvPr id="352" name="Google Shape;352;p24"/>
          <p:cNvSpPr txBox="1"/>
          <p:nvPr/>
        </p:nvSpPr>
        <p:spPr>
          <a:xfrm>
            <a:off x="1528762" y="4184302"/>
            <a:ext cx="3619500" cy="594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 err="1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Transaksi</a:t>
            </a:r>
            <a:r>
              <a:rPr lang="en-US" sz="975" b="0" i="0" u="none" strike="noStrike" cap="none" dirty="0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75" b="0" i="0" u="none" strike="noStrike" cap="none" dirty="0" err="1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pencatatan</a:t>
            </a:r>
            <a:r>
              <a:rPr lang="en-US" sz="975" b="0" i="0" u="none" strike="noStrike" cap="none" dirty="0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 laundry </a:t>
            </a:r>
            <a:r>
              <a:rPr lang="en-US" sz="975" b="0" i="0" u="none" strike="noStrike" cap="none" dirty="0" err="1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lokal</a:t>
            </a:r>
            <a:r>
              <a:rPr lang="en-US" sz="975" b="0" i="0" u="none" strike="noStrike" cap="none" dirty="0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75" b="0" i="0" u="none" strike="noStrike" cap="none" dirty="0" err="1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tetap</a:t>
            </a:r>
            <a:r>
              <a:rPr lang="en-US" sz="975" b="0" i="0" u="none" strike="noStrike" cap="none" dirty="0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75" b="0" i="0" u="none" strike="noStrike" cap="none" dirty="0" err="1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berjalan</a:t>
            </a:r>
            <a:r>
              <a:rPr lang="en-US" sz="975" b="0" i="0" u="none" strike="noStrike" cap="none" dirty="0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 normal </a:t>
            </a:r>
            <a:r>
              <a:rPr lang="en-US" sz="975" b="0" i="0" u="none" strike="noStrike" cap="none" dirty="0" err="1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tanpa</a:t>
            </a:r>
            <a:r>
              <a:rPr lang="en-US" sz="975" b="0" i="0" u="none" strike="noStrike" cap="none" dirty="0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75" b="0" i="0" u="none" strike="noStrike" cap="none" dirty="0" err="1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jeda</a:t>
            </a:r>
            <a:r>
              <a:rPr lang="en-US" sz="975" b="0" i="0" u="none" strike="noStrike" cap="none" dirty="0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 downtime </a:t>
            </a:r>
            <a:r>
              <a:rPr lang="en-US" sz="975" b="0" i="0" u="none" strike="noStrike" cap="none" dirty="0" err="1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meskipun</a:t>
            </a:r>
            <a:r>
              <a:rPr lang="en-US" sz="975" b="0" i="0" u="none" strike="noStrike" cap="none" dirty="0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75" b="0" i="0" u="none" strike="noStrike" cap="none" dirty="0" err="1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jalur</a:t>
            </a:r>
            <a:r>
              <a:rPr lang="en-US" sz="975" b="0" i="0" u="none" strike="noStrike" cap="none" dirty="0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 internet </a:t>
            </a:r>
            <a:r>
              <a:rPr lang="en-US" sz="975" b="0" i="0" u="none" strike="noStrike" cap="none" dirty="0" err="1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pusat</a:t>
            </a:r>
            <a:r>
              <a:rPr lang="en-US" sz="975" b="0" i="0" u="none" strike="noStrike" cap="none" dirty="0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75" b="0" i="0" u="none" strike="noStrike" cap="none" dirty="0" err="1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putus</a:t>
            </a:r>
            <a:r>
              <a:rPr lang="en-US" sz="975" b="0" i="0" u="none" strike="noStrike" cap="none" dirty="0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 total.</a:t>
            </a:r>
            <a:endParaRPr dirty="0"/>
          </a:p>
        </p:txBody>
      </p:sp>
      <p:sp>
        <p:nvSpPr>
          <p:cNvPr id="353" name="Google Shape;353;p24"/>
          <p:cNvSpPr txBox="1"/>
          <p:nvPr/>
        </p:nvSpPr>
        <p:spPr>
          <a:xfrm>
            <a:off x="6629400" y="2781300"/>
            <a:ext cx="4791075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4C81"/>
                </a:solidFill>
                <a:latin typeface="Poppins"/>
                <a:ea typeface="Poppins"/>
                <a:cs typeface="Poppins"/>
                <a:sym typeface="Poppins"/>
              </a:rPr>
              <a:t>Performa Akses Kecepatan Tinggi</a:t>
            </a:r>
            <a:r>
              <a:rPr lang="en-US" sz="1200" b="0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0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Proses pembacaan kueri data sangat cepat karena dieksekusi langsung pada server fisik cabang terdekat.</a:t>
            </a:r>
            <a:endParaRPr/>
          </a:p>
        </p:txBody>
      </p:sp>
      <p:sp>
        <p:nvSpPr>
          <p:cNvPr id="354" name="Google Shape;354;p24"/>
          <p:cNvSpPr txBox="1"/>
          <p:nvPr/>
        </p:nvSpPr>
        <p:spPr>
          <a:xfrm>
            <a:off x="6657975" y="3495675"/>
            <a:ext cx="47625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4C81"/>
                </a:solidFill>
                <a:latin typeface="Poppins"/>
                <a:ea typeface="Poppins"/>
                <a:cs typeface="Poppins"/>
                <a:sym typeface="Poppins"/>
              </a:rPr>
              <a:t>Isolasi &amp; Keamanan Partisi</a:t>
            </a:r>
            <a:r>
              <a:rPr lang="en-US" sz="1200" b="0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0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Data transaksi lokal dipisahkan secara partisi horizontal, sehingga meminimalkan kebocoran data antar cabang.</a:t>
            </a:r>
            <a:endParaRPr/>
          </a:p>
        </p:txBody>
      </p:sp>
      <p:sp>
        <p:nvSpPr>
          <p:cNvPr id="355" name="Google Shape;355;p24"/>
          <p:cNvSpPr txBox="1"/>
          <p:nvPr/>
        </p:nvSpPr>
        <p:spPr>
          <a:xfrm>
            <a:off x="6657975" y="4210050"/>
            <a:ext cx="47625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4C81"/>
                </a:solidFill>
                <a:latin typeface="Poppins"/>
                <a:ea typeface="Poppins"/>
                <a:cs typeface="Poppins"/>
                <a:sym typeface="Poppins"/>
              </a:rPr>
              <a:t>Skalabilitas Horizontal Tinggi</a:t>
            </a:r>
            <a:r>
              <a:rPr lang="en-US" sz="1200" b="0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200" b="0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Sangat praktis mendaftarkan kantor cabang baru ke depannya tanpa mengganggu konfigurasi basis data cabang aktif lainnya.</a:t>
            </a:r>
            <a:endParaRPr/>
          </a:p>
        </p:txBody>
      </p:sp>
      <p:pic>
        <p:nvPicPr>
          <p:cNvPr id="356" name="Google Shape;356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82892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35433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0" y="42576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4"/>
          <p:cNvSpPr txBox="1"/>
          <p:nvPr/>
        </p:nvSpPr>
        <p:spPr>
          <a:xfrm>
            <a:off x="1233487" y="581025"/>
            <a:ext cx="5570696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4C81"/>
                </a:solidFill>
                <a:latin typeface="Poppins"/>
                <a:ea typeface="Poppins"/>
                <a:cs typeface="Poppins"/>
                <a:sym typeface="Poppins"/>
              </a:rPr>
              <a:t>KEUNGGULAN ARSITEKTUR SISTEM</a:t>
            </a:r>
            <a:endParaRPr/>
          </a:p>
        </p:txBody>
      </p:sp>
      <p:sp>
        <p:nvSpPr>
          <p:cNvPr id="360" name="Google Shape;360;p24"/>
          <p:cNvSpPr/>
          <p:nvPr/>
        </p:nvSpPr>
        <p:spPr>
          <a:xfrm>
            <a:off x="771525" y="1162050"/>
            <a:ext cx="5767387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942</Words>
  <Application>Microsoft Office PowerPoint</Application>
  <PresentationFormat>Widescreen</PresentationFormat>
  <Paragraphs>115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Poppins Light</vt:lpstr>
      <vt:lpstr>Poppins</vt:lpstr>
      <vt:lpstr>Poppins Medium</vt:lpstr>
      <vt:lpstr>Arial</vt:lpstr>
      <vt:lpstr>Poppins ExtraBold</vt:lpstr>
      <vt:lpstr>Calibri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Muhammad Ridho Ftr</cp:lastModifiedBy>
  <cp:revision>1</cp:revision>
  <dcterms:modified xsi:type="dcterms:W3CDTF">2026-07-17T17:59:15Z</dcterms:modified>
</cp:coreProperties>
</file>